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media/image-1-1.jpg" ContentType="image/jpg"/>
  <Override PartName="/ppt/media/image-7-1.jpg" ContentType="image/jpg"/>
  <Override PartName="/ppt/media/image-9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6243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6243B"/>
                </a:solidFill>
                <a:latin typeface="+mn-lt"/>
              </a:rPr>
              <a:t>Feature groups (33 total)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Features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F5D9E"/>
              </a:solidFill>
              <a:effectLst/>
            </c:spPr>
          </c:dPt>
          <c:dPt>
            <c:idx val="1"/>
            <c:bubble3D val="0"/>
            <c:spPr>
              <a:solidFill>
                <a:srgbClr val="0E7C86"/>
              </a:solidFill>
              <a:effectLst/>
            </c:spPr>
          </c:dPt>
          <c:dPt>
            <c:idx val="2"/>
            <c:bubble3D val="0"/>
            <c:spPr>
              <a:solidFill>
                <a:srgbClr val="C8102E"/>
              </a:solidFill>
              <a:effectLst/>
            </c:spPr>
          </c:dPt>
          <c:dPt>
            <c:idx val="3"/>
            <c:bubble3D val="0"/>
            <c:spPr>
              <a:solidFill>
                <a:srgbClr val="E8A33D"/>
              </a:solidFill>
              <a:effectLst/>
            </c:spPr>
          </c:dPt>
          <c:dPt>
            <c:idx val="4"/>
            <c:bubble3D val="0"/>
            <c:spPr>
              <a:solidFill>
                <a:srgbClr val="8FA3BF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EHR baseline</c:v>
                </c:pt>
                <c:pt idx="1">
                  <c:v>Wearable (instant)</c:v>
                </c:pt>
                <c:pt idx="2">
                  <c:v>6 h rolling</c:v>
                </c:pt>
                <c:pt idx="3">
                  <c:v>Sleep stage (one-hot)</c:v>
                </c:pt>
                <c:pt idx="4">
                  <c:v>Sex (one-hot)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13</c:v>
                </c:pt>
                <c:pt idx="1">
                  <c:v>8</c:v>
                </c:pt>
                <c:pt idx="2">
                  <c:v>6</c:v>
                </c:pt>
                <c:pt idx="3">
                  <c:v>4</c:v>
                </c:pt>
                <c:pt idx="4">
                  <c:v>2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4A5B7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6243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6243B"/>
                </a:solidFill>
                <a:latin typeface="+mn-lt"/>
              </a:rPr>
              <a:t>HRV (RMSSD)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Event patients</c:v>
                </c:pt>
              </c:strCache>
            </c:strRef>
          </c:tx>
          <c:spPr>
            <a:solidFill>
              <a:srgbClr val="C8102E"/>
            </a:solidFill>
            <a:ln w="28575" cap="flat">
              <a:solidFill>
                <a:srgbClr val="C810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8102E"/>
              </a:solidFill>
              <a:ln w="9525" cap="flat">
                <a:solidFill>
                  <a:srgbClr val="C810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Sheet1!$A$2:$A$49</c:f>
              <c:multiLvlStrCache>
                <c:ptCount val="48"/>
                <c:lvl>
                  <c:pt idx="0">
                    <c:v>-24</c:v>
                  </c:pt>
                  <c:pt idx="1">
                    <c:v>-23</c:v>
                  </c:pt>
                  <c:pt idx="2">
                    <c:v>-22</c:v>
                  </c:pt>
                  <c:pt idx="3">
                    <c:v>-21</c:v>
                  </c:pt>
                  <c:pt idx="4">
                    <c:v>-20</c:v>
                  </c:pt>
                  <c:pt idx="5">
                    <c:v>-19</c:v>
                  </c:pt>
                  <c:pt idx="6">
                    <c:v>-18</c:v>
                  </c:pt>
                  <c:pt idx="7">
                    <c:v>-17</c:v>
                  </c:pt>
                  <c:pt idx="8">
                    <c:v>-16</c:v>
                  </c:pt>
                  <c:pt idx="9">
                    <c:v>-15</c:v>
                  </c:pt>
                  <c:pt idx="10">
                    <c:v>-14</c:v>
                  </c:pt>
                  <c:pt idx="11">
                    <c:v>-13</c:v>
                  </c:pt>
                  <c:pt idx="12">
                    <c:v>-12</c:v>
                  </c:pt>
                  <c:pt idx="13">
                    <c:v>-11</c:v>
                  </c:pt>
                  <c:pt idx="14">
                    <c:v>-10</c:v>
                  </c:pt>
                  <c:pt idx="15">
                    <c:v>-9</c:v>
                  </c:pt>
                  <c:pt idx="16">
                    <c:v>-8</c:v>
                  </c:pt>
                  <c:pt idx="17">
                    <c:v>-7</c:v>
                  </c:pt>
                  <c:pt idx="18">
                    <c:v>-6</c:v>
                  </c:pt>
                  <c:pt idx="19">
                    <c:v>-5</c:v>
                  </c:pt>
                  <c:pt idx="20">
                    <c:v>-4</c:v>
                  </c:pt>
                  <c:pt idx="21">
                    <c:v>-3</c:v>
                  </c:pt>
                  <c:pt idx="22">
                    <c:v>-2</c:v>
                  </c:pt>
                  <c:pt idx="23">
                    <c:v>-1</c:v>
                  </c:pt>
                  <c:pt idx="24">
                    <c:v>0</c:v>
                  </c:pt>
                  <c:pt idx="25">
                    <c:v>1</c:v>
                  </c:pt>
                  <c:pt idx="26">
                    <c:v>2</c:v>
                  </c:pt>
                  <c:pt idx="27">
                    <c:v>3</c:v>
                  </c:pt>
                  <c:pt idx="28">
                    <c:v>4</c:v>
                  </c:pt>
                  <c:pt idx="29">
                    <c:v>5</c:v>
                  </c:pt>
                  <c:pt idx="30">
                    <c:v>6</c:v>
                  </c:pt>
                  <c:pt idx="31">
                    <c:v>7</c:v>
                  </c:pt>
                  <c:pt idx="32">
                    <c:v>8</c:v>
                  </c:pt>
                  <c:pt idx="33">
                    <c:v>9</c:v>
                  </c:pt>
                  <c:pt idx="34">
                    <c:v>10</c:v>
                  </c:pt>
                  <c:pt idx="35">
                    <c:v>11</c:v>
                  </c:pt>
                  <c:pt idx="36">
                    <c:v>12</c:v>
                  </c:pt>
                  <c:pt idx="37">
                    <c:v>13</c:v>
                  </c:pt>
                  <c:pt idx="38">
                    <c:v>14</c:v>
                  </c:pt>
                  <c:pt idx="39">
                    <c:v>15</c:v>
                  </c:pt>
                  <c:pt idx="40">
                    <c:v>16</c:v>
                  </c:pt>
                  <c:pt idx="41">
                    <c:v>17</c:v>
                  </c:pt>
                  <c:pt idx="42">
                    <c:v>18</c:v>
                  </c:pt>
                  <c:pt idx="43">
                    <c:v>19</c:v>
                  </c:pt>
                  <c:pt idx="44">
                    <c:v>20</c:v>
                  </c:pt>
                  <c:pt idx="45">
                    <c:v>21</c:v>
                  </c:pt>
                  <c:pt idx="46">
                    <c:v>22</c:v>
                  </c:pt>
                  <c:pt idx="47">
                    <c:v>23</c:v>
                  </c:pt>
                </c:lvl>
              </c:multiLvlStrCache>
            </c:multiLvlStrRef>
          </c:cat>
          <c:val>
            <c:numRef>
              <c:f>Sheet1!$B$2:$B$49</c:f>
              <c:numCache>
                <c:formatCode>General</c:formatCode>
                <c:ptCount val="48"/>
                <c:pt idx="0">
                  <c:v>45.6</c:v>
                </c:pt>
                <c:pt idx="1">
                  <c:v>48.9</c:v>
                </c:pt>
                <c:pt idx="2">
                  <c:v>53.6</c:v>
                </c:pt>
                <c:pt idx="3">
                  <c:v>57.3</c:v>
                </c:pt>
                <c:pt idx="4">
                  <c:v>57.8</c:v>
                </c:pt>
                <c:pt idx="5">
                  <c:v>60.2</c:v>
                </c:pt>
                <c:pt idx="6">
                  <c:v>58.8</c:v>
                </c:pt>
                <c:pt idx="7">
                  <c:v>57.9</c:v>
                </c:pt>
                <c:pt idx="8">
                  <c:v>58.3</c:v>
                </c:pt>
                <c:pt idx="9">
                  <c:v>54.6</c:v>
                </c:pt>
                <c:pt idx="10">
                  <c:v>52.1</c:v>
                </c:pt>
                <c:pt idx="11">
                  <c:v>46.4</c:v>
                </c:pt>
                <c:pt idx="12">
                  <c:v>44.1</c:v>
                </c:pt>
                <c:pt idx="13">
                  <c:v>39</c:v>
                </c:pt>
                <c:pt idx="14">
                  <c:v>35.7</c:v>
                </c:pt>
                <c:pt idx="15">
                  <c:v>33.5</c:v>
                </c:pt>
                <c:pt idx="16">
                  <c:v>30</c:v>
                </c:pt>
                <c:pt idx="17">
                  <c:v>29.9</c:v>
                </c:pt>
                <c:pt idx="18">
                  <c:v>30.3</c:v>
                </c:pt>
                <c:pt idx="19">
                  <c:v>31.4</c:v>
                </c:pt>
                <c:pt idx="20">
                  <c:v>33.1</c:v>
                </c:pt>
                <c:pt idx="21">
                  <c:v>37.1</c:v>
                </c:pt>
                <c:pt idx="22">
                  <c:v>41.4</c:v>
                </c:pt>
                <c:pt idx="23">
                  <c:v>44.1</c:v>
                </c:pt>
                <c:pt idx="24">
                  <c:v>46.4</c:v>
                </c:pt>
                <c:pt idx="25">
                  <c:v>48</c:v>
                </c:pt>
                <c:pt idx="26">
                  <c:v>48.8</c:v>
                </c:pt>
                <c:pt idx="27">
                  <c:v>51.4</c:v>
                </c:pt>
                <c:pt idx="28">
                  <c:v>50.8</c:v>
                </c:pt>
                <c:pt idx="29">
                  <c:v>51.2</c:v>
                </c:pt>
                <c:pt idx="30">
                  <c:v>49.7</c:v>
                </c:pt>
                <c:pt idx="31">
                  <c:v>47.6</c:v>
                </c:pt>
                <c:pt idx="32">
                  <c:v>42.9</c:v>
                </c:pt>
                <c:pt idx="33">
                  <c:v>40.7</c:v>
                </c:pt>
                <c:pt idx="34">
                  <c:v>37.3</c:v>
                </c:pt>
                <c:pt idx="35">
                  <c:v>32.3</c:v>
                </c:pt>
                <c:pt idx="36">
                  <c:v>28.1</c:v>
                </c:pt>
                <c:pt idx="37">
                  <c:v>25</c:v>
                </c:pt>
                <c:pt idx="38">
                  <c:v>21.2</c:v>
                </c:pt>
                <c:pt idx="39">
                  <c:v>18.8</c:v>
                </c:pt>
                <c:pt idx="40">
                  <c:v>16.6</c:v>
                </c:pt>
                <c:pt idx="41">
                  <c:v>16</c:v>
                </c:pt>
                <c:pt idx="42">
                  <c:v>14.3</c:v>
                </c:pt>
                <c:pt idx="43">
                  <c:v>14.6</c:v>
                </c:pt>
                <c:pt idx="44">
                  <c:v>14.4</c:v>
                </c:pt>
                <c:pt idx="45">
                  <c:v>15.3</c:v>
                </c:pt>
                <c:pt idx="46">
                  <c:v>15.5</c:v>
                </c:pt>
                <c:pt idx="47">
                  <c:v>15.7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 event</c:v>
                </c:pt>
              </c:strCache>
            </c:strRef>
          </c:tx>
          <c:spPr>
            <a:solidFill>
              <a:srgbClr val="8FA3BF"/>
            </a:solidFill>
            <a:ln w="28575" cap="flat">
              <a:solidFill>
                <a:srgbClr val="8FA3B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FA3BF"/>
              </a:solidFill>
              <a:ln w="9525" cap="flat">
                <a:solidFill>
                  <a:srgbClr val="8FA3B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Sheet1!$A$2:$A$49</c:f>
              <c:multiLvlStrCache>
                <c:ptCount val="48"/>
                <c:lvl>
                  <c:pt idx="0">
                    <c:v>-24</c:v>
                  </c:pt>
                  <c:pt idx="1">
                    <c:v>-23</c:v>
                  </c:pt>
                  <c:pt idx="2">
                    <c:v>-22</c:v>
                  </c:pt>
                  <c:pt idx="3">
                    <c:v>-21</c:v>
                  </c:pt>
                  <c:pt idx="4">
                    <c:v>-20</c:v>
                  </c:pt>
                  <c:pt idx="5">
                    <c:v>-19</c:v>
                  </c:pt>
                  <c:pt idx="6">
                    <c:v>-18</c:v>
                  </c:pt>
                  <c:pt idx="7">
                    <c:v>-17</c:v>
                  </c:pt>
                  <c:pt idx="8">
                    <c:v>-16</c:v>
                  </c:pt>
                  <c:pt idx="9">
                    <c:v>-15</c:v>
                  </c:pt>
                  <c:pt idx="10">
                    <c:v>-14</c:v>
                  </c:pt>
                  <c:pt idx="11">
                    <c:v>-13</c:v>
                  </c:pt>
                  <c:pt idx="12">
                    <c:v>-12</c:v>
                  </c:pt>
                  <c:pt idx="13">
                    <c:v>-11</c:v>
                  </c:pt>
                  <c:pt idx="14">
                    <c:v>-10</c:v>
                  </c:pt>
                  <c:pt idx="15">
                    <c:v>-9</c:v>
                  </c:pt>
                  <c:pt idx="16">
                    <c:v>-8</c:v>
                  </c:pt>
                  <c:pt idx="17">
                    <c:v>-7</c:v>
                  </c:pt>
                  <c:pt idx="18">
                    <c:v>-6</c:v>
                  </c:pt>
                  <c:pt idx="19">
                    <c:v>-5</c:v>
                  </c:pt>
                  <c:pt idx="20">
                    <c:v>-4</c:v>
                  </c:pt>
                  <c:pt idx="21">
                    <c:v>-3</c:v>
                  </c:pt>
                  <c:pt idx="22">
                    <c:v>-2</c:v>
                  </c:pt>
                  <c:pt idx="23">
                    <c:v>-1</c:v>
                  </c:pt>
                  <c:pt idx="24">
                    <c:v>0</c:v>
                  </c:pt>
                  <c:pt idx="25">
                    <c:v>1</c:v>
                  </c:pt>
                  <c:pt idx="26">
                    <c:v>2</c:v>
                  </c:pt>
                  <c:pt idx="27">
                    <c:v>3</c:v>
                  </c:pt>
                  <c:pt idx="28">
                    <c:v>4</c:v>
                  </c:pt>
                  <c:pt idx="29">
                    <c:v>5</c:v>
                  </c:pt>
                  <c:pt idx="30">
                    <c:v>6</c:v>
                  </c:pt>
                  <c:pt idx="31">
                    <c:v>7</c:v>
                  </c:pt>
                  <c:pt idx="32">
                    <c:v>8</c:v>
                  </c:pt>
                  <c:pt idx="33">
                    <c:v>9</c:v>
                  </c:pt>
                  <c:pt idx="34">
                    <c:v>10</c:v>
                  </c:pt>
                  <c:pt idx="35">
                    <c:v>11</c:v>
                  </c:pt>
                  <c:pt idx="36">
                    <c:v>12</c:v>
                  </c:pt>
                  <c:pt idx="37">
                    <c:v>13</c:v>
                  </c:pt>
                  <c:pt idx="38">
                    <c:v>14</c:v>
                  </c:pt>
                  <c:pt idx="39">
                    <c:v>15</c:v>
                  </c:pt>
                  <c:pt idx="40">
                    <c:v>16</c:v>
                  </c:pt>
                  <c:pt idx="41">
                    <c:v>17</c:v>
                  </c:pt>
                  <c:pt idx="42">
                    <c:v>18</c:v>
                  </c:pt>
                  <c:pt idx="43">
                    <c:v>19</c:v>
                  </c:pt>
                  <c:pt idx="44">
                    <c:v>20</c:v>
                  </c:pt>
                  <c:pt idx="45">
                    <c:v>21</c:v>
                  </c:pt>
                  <c:pt idx="46">
                    <c:v>22</c:v>
                  </c:pt>
                  <c:pt idx="47">
                    <c:v>23</c:v>
                  </c:pt>
                </c:lvl>
              </c:multiLvlStrCache>
            </c:multiLvlStrRef>
          </c:cat>
          <c:val>
            <c:numRef>
              <c:f>Sheet1!$C$2:$C$49</c:f>
              <c:numCache>
                <c:formatCode>General</c:formatCode>
                <c:ptCount val="48"/>
                <c:pt idx="0">
                  <c:v>44.9</c:v>
                </c:pt>
                <c:pt idx="1">
                  <c:v>48.9</c:v>
                </c:pt>
                <c:pt idx="2">
                  <c:v>52.8</c:v>
                </c:pt>
                <c:pt idx="3">
                  <c:v>56.1</c:v>
                </c:pt>
                <c:pt idx="4">
                  <c:v>57.7</c:v>
                </c:pt>
                <c:pt idx="5">
                  <c:v>59.8</c:v>
                </c:pt>
                <c:pt idx="6">
                  <c:v>60.4</c:v>
                </c:pt>
                <c:pt idx="7">
                  <c:v>59.6</c:v>
                </c:pt>
                <c:pt idx="8">
                  <c:v>57</c:v>
                </c:pt>
                <c:pt idx="9">
                  <c:v>54.1</c:v>
                </c:pt>
                <c:pt idx="10">
                  <c:v>51.1</c:v>
                </c:pt>
                <c:pt idx="11">
                  <c:v>46.8</c:v>
                </c:pt>
                <c:pt idx="12">
                  <c:v>43</c:v>
                </c:pt>
                <c:pt idx="13">
                  <c:v>39</c:v>
                </c:pt>
                <c:pt idx="14">
                  <c:v>35.6</c:v>
                </c:pt>
                <c:pt idx="15">
                  <c:v>32.8</c:v>
                </c:pt>
                <c:pt idx="16">
                  <c:v>31</c:v>
                </c:pt>
                <c:pt idx="17">
                  <c:v>29.9</c:v>
                </c:pt>
                <c:pt idx="18">
                  <c:v>29.9</c:v>
                </c:pt>
                <c:pt idx="19">
                  <c:v>31.4</c:v>
                </c:pt>
                <c:pt idx="20">
                  <c:v>34.1</c:v>
                </c:pt>
                <c:pt idx="21">
                  <c:v>37</c:v>
                </c:pt>
                <c:pt idx="22">
                  <c:v>41.4</c:v>
                </c:pt>
                <c:pt idx="23">
                  <c:v>45</c:v>
                </c:pt>
                <c:pt idx="24">
                  <c:v>45.4</c:v>
                </c:pt>
                <c:pt idx="25">
                  <c:v>48.8</c:v>
                </c:pt>
                <c:pt idx="26">
                  <c:v>53.4</c:v>
                </c:pt>
                <c:pt idx="27">
                  <c:v>56.1</c:v>
                </c:pt>
                <c:pt idx="28">
                  <c:v>58</c:v>
                </c:pt>
                <c:pt idx="29">
                  <c:v>59.7</c:v>
                </c:pt>
                <c:pt idx="30">
                  <c:v>59.8</c:v>
                </c:pt>
                <c:pt idx="31">
                  <c:v>59</c:v>
                </c:pt>
                <c:pt idx="32">
                  <c:v>57.6</c:v>
                </c:pt>
                <c:pt idx="33">
                  <c:v>53.7</c:v>
                </c:pt>
                <c:pt idx="34">
                  <c:v>50.7</c:v>
                </c:pt>
                <c:pt idx="35">
                  <c:v>46.9</c:v>
                </c:pt>
                <c:pt idx="36">
                  <c:v>43</c:v>
                </c:pt>
                <c:pt idx="37">
                  <c:v>39.3</c:v>
                </c:pt>
                <c:pt idx="38">
                  <c:v>35.3</c:v>
                </c:pt>
                <c:pt idx="39">
                  <c:v>32.4</c:v>
                </c:pt>
                <c:pt idx="40">
                  <c:v>30.8</c:v>
                </c:pt>
                <c:pt idx="41">
                  <c:v>29.8</c:v>
                </c:pt>
                <c:pt idx="42">
                  <c:v>30.2</c:v>
                </c:pt>
                <c:pt idx="43">
                  <c:v>31.8</c:v>
                </c:pt>
                <c:pt idx="44">
                  <c:v>34.2</c:v>
                </c:pt>
                <c:pt idx="45">
                  <c:v>37.3</c:v>
                </c:pt>
                <c:pt idx="46">
                  <c:v>41.1</c:v>
                </c:pt>
                <c:pt idx="47">
                  <c:v>45.2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4A5B73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4A5B73"/>
                    </a:solidFill>
                    <a:latin typeface="Arial"/>
                  </a:rPr>
                  <a:t>Hours relative to window start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B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6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E1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4A5B73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4A5B73"/>
                    </a:solidFill>
                    <a:latin typeface="Arial"/>
                  </a:rPr>
                  <a:t>ms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A5B7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6243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6243B"/>
                </a:solidFill>
                <a:latin typeface="+mn-lt"/>
              </a:rPr>
              <a:t>Heart rate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Event patients</c:v>
                </c:pt>
              </c:strCache>
            </c:strRef>
          </c:tx>
          <c:spPr>
            <a:solidFill>
              <a:srgbClr val="C8102E"/>
            </a:solidFill>
            <a:ln w="28575" cap="flat">
              <a:solidFill>
                <a:srgbClr val="C810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8102E"/>
              </a:solidFill>
              <a:ln w="9525" cap="flat">
                <a:solidFill>
                  <a:srgbClr val="C810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Sheet1!$A$2:$A$49</c:f>
              <c:multiLvlStrCache>
                <c:ptCount val="48"/>
                <c:lvl>
                  <c:pt idx="0">
                    <c:v>-24</c:v>
                  </c:pt>
                  <c:pt idx="1">
                    <c:v>-23</c:v>
                  </c:pt>
                  <c:pt idx="2">
                    <c:v>-22</c:v>
                  </c:pt>
                  <c:pt idx="3">
                    <c:v>-21</c:v>
                  </c:pt>
                  <c:pt idx="4">
                    <c:v>-20</c:v>
                  </c:pt>
                  <c:pt idx="5">
                    <c:v>-19</c:v>
                  </c:pt>
                  <c:pt idx="6">
                    <c:v>-18</c:v>
                  </c:pt>
                  <c:pt idx="7">
                    <c:v>-17</c:v>
                  </c:pt>
                  <c:pt idx="8">
                    <c:v>-16</c:v>
                  </c:pt>
                  <c:pt idx="9">
                    <c:v>-15</c:v>
                  </c:pt>
                  <c:pt idx="10">
                    <c:v>-14</c:v>
                  </c:pt>
                  <c:pt idx="11">
                    <c:v>-13</c:v>
                  </c:pt>
                  <c:pt idx="12">
                    <c:v>-12</c:v>
                  </c:pt>
                  <c:pt idx="13">
                    <c:v>-11</c:v>
                  </c:pt>
                  <c:pt idx="14">
                    <c:v>-10</c:v>
                  </c:pt>
                  <c:pt idx="15">
                    <c:v>-9</c:v>
                  </c:pt>
                  <c:pt idx="16">
                    <c:v>-8</c:v>
                  </c:pt>
                  <c:pt idx="17">
                    <c:v>-7</c:v>
                  </c:pt>
                  <c:pt idx="18">
                    <c:v>-6</c:v>
                  </c:pt>
                  <c:pt idx="19">
                    <c:v>-5</c:v>
                  </c:pt>
                  <c:pt idx="20">
                    <c:v>-4</c:v>
                  </c:pt>
                  <c:pt idx="21">
                    <c:v>-3</c:v>
                  </c:pt>
                  <c:pt idx="22">
                    <c:v>-2</c:v>
                  </c:pt>
                  <c:pt idx="23">
                    <c:v>-1</c:v>
                  </c:pt>
                  <c:pt idx="24">
                    <c:v>0</c:v>
                  </c:pt>
                  <c:pt idx="25">
                    <c:v>1</c:v>
                  </c:pt>
                  <c:pt idx="26">
                    <c:v>2</c:v>
                  </c:pt>
                  <c:pt idx="27">
                    <c:v>3</c:v>
                  </c:pt>
                  <c:pt idx="28">
                    <c:v>4</c:v>
                  </c:pt>
                  <c:pt idx="29">
                    <c:v>5</c:v>
                  </c:pt>
                  <c:pt idx="30">
                    <c:v>6</c:v>
                  </c:pt>
                  <c:pt idx="31">
                    <c:v>7</c:v>
                  </c:pt>
                  <c:pt idx="32">
                    <c:v>8</c:v>
                  </c:pt>
                  <c:pt idx="33">
                    <c:v>9</c:v>
                  </c:pt>
                  <c:pt idx="34">
                    <c:v>10</c:v>
                  </c:pt>
                  <c:pt idx="35">
                    <c:v>11</c:v>
                  </c:pt>
                  <c:pt idx="36">
                    <c:v>12</c:v>
                  </c:pt>
                  <c:pt idx="37">
                    <c:v>13</c:v>
                  </c:pt>
                  <c:pt idx="38">
                    <c:v>14</c:v>
                  </c:pt>
                  <c:pt idx="39">
                    <c:v>15</c:v>
                  </c:pt>
                  <c:pt idx="40">
                    <c:v>16</c:v>
                  </c:pt>
                  <c:pt idx="41">
                    <c:v>17</c:v>
                  </c:pt>
                  <c:pt idx="42">
                    <c:v>18</c:v>
                  </c:pt>
                  <c:pt idx="43">
                    <c:v>19</c:v>
                  </c:pt>
                  <c:pt idx="44">
                    <c:v>20</c:v>
                  </c:pt>
                  <c:pt idx="45">
                    <c:v>21</c:v>
                  </c:pt>
                  <c:pt idx="46">
                    <c:v>22</c:v>
                  </c:pt>
                  <c:pt idx="47">
                    <c:v>23</c:v>
                  </c:pt>
                </c:lvl>
              </c:multiLvlStrCache>
            </c:multiLvlStrRef>
          </c:cat>
          <c:val>
            <c:numRef>
              <c:f>Sheet1!$B$2:$B$49</c:f>
              <c:numCache>
                <c:formatCode>General</c:formatCode>
                <c:ptCount val="48"/>
                <c:pt idx="0">
                  <c:v>49.7</c:v>
                </c:pt>
                <c:pt idx="1">
                  <c:v>48.6</c:v>
                </c:pt>
                <c:pt idx="2">
                  <c:v>47.8</c:v>
                </c:pt>
                <c:pt idx="3">
                  <c:v>46.6</c:v>
                </c:pt>
                <c:pt idx="4">
                  <c:v>46.2</c:v>
                </c:pt>
                <c:pt idx="5">
                  <c:v>45.6</c:v>
                </c:pt>
                <c:pt idx="6">
                  <c:v>45.8</c:v>
                </c:pt>
                <c:pt idx="7">
                  <c:v>46.3</c:v>
                </c:pt>
                <c:pt idx="8">
                  <c:v>46.7</c:v>
                </c:pt>
                <c:pt idx="9">
                  <c:v>47.5</c:v>
                </c:pt>
                <c:pt idx="10">
                  <c:v>47.4</c:v>
                </c:pt>
                <c:pt idx="11">
                  <c:v>49.1</c:v>
                </c:pt>
                <c:pt idx="12">
                  <c:v>51</c:v>
                </c:pt>
                <c:pt idx="13">
                  <c:v>51.9</c:v>
                </c:pt>
                <c:pt idx="14">
                  <c:v>54.6</c:v>
                </c:pt>
                <c:pt idx="15">
                  <c:v>55.5</c:v>
                </c:pt>
                <c:pt idx="16">
                  <c:v>56.3</c:v>
                </c:pt>
                <c:pt idx="17">
                  <c:v>58</c:v>
                </c:pt>
                <c:pt idx="18">
                  <c:v>57.3</c:v>
                </c:pt>
                <c:pt idx="19">
                  <c:v>56.5</c:v>
                </c:pt>
                <c:pt idx="20">
                  <c:v>54.9</c:v>
                </c:pt>
                <c:pt idx="21">
                  <c:v>53</c:v>
                </c:pt>
                <c:pt idx="22">
                  <c:v>51.5</c:v>
                </c:pt>
                <c:pt idx="23">
                  <c:v>50.5</c:v>
                </c:pt>
                <c:pt idx="24">
                  <c:v>49.6</c:v>
                </c:pt>
                <c:pt idx="25">
                  <c:v>49.5</c:v>
                </c:pt>
                <c:pt idx="26">
                  <c:v>49.2</c:v>
                </c:pt>
                <c:pt idx="27">
                  <c:v>49.3</c:v>
                </c:pt>
                <c:pt idx="28">
                  <c:v>49.7</c:v>
                </c:pt>
                <c:pt idx="29">
                  <c:v>50.9</c:v>
                </c:pt>
                <c:pt idx="30">
                  <c:v>51.3</c:v>
                </c:pt>
                <c:pt idx="31">
                  <c:v>52.8</c:v>
                </c:pt>
                <c:pt idx="32">
                  <c:v>53.8</c:v>
                </c:pt>
                <c:pt idx="33">
                  <c:v>55.4</c:v>
                </c:pt>
                <c:pt idx="34">
                  <c:v>57.6</c:v>
                </c:pt>
                <c:pt idx="35">
                  <c:v>59.4</c:v>
                </c:pt>
                <c:pt idx="36">
                  <c:v>63.5</c:v>
                </c:pt>
                <c:pt idx="37">
                  <c:v>64.2</c:v>
                </c:pt>
                <c:pt idx="38">
                  <c:v>66.4</c:v>
                </c:pt>
                <c:pt idx="39">
                  <c:v>70.1</c:v>
                </c:pt>
                <c:pt idx="40">
                  <c:v>72</c:v>
                </c:pt>
                <c:pt idx="41">
                  <c:v>73.9</c:v>
                </c:pt>
                <c:pt idx="42">
                  <c:v>74.2</c:v>
                </c:pt>
                <c:pt idx="43">
                  <c:v>74.2</c:v>
                </c:pt>
                <c:pt idx="44">
                  <c:v>74.6</c:v>
                </c:pt>
                <c:pt idx="45">
                  <c:v>73.7</c:v>
                </c:pt>
                <c:pt idx="46">
                  <c:v>72.6</c:v>
                </c:pt>
                <c:pt idx="47">
                  <c:v>72.1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 event</c:v>
                </c:pt>
              </c:strCache>
            </c:strRef>
          </c:tx>
          <c:spPr>
            <a:solidFill>
              <a:srgbClr val="8FA3BF"/>
            </a:solidFill>
            <a:ln w="28575" cap="flat">
              <a:solidFill>
                <a:srgbClr val="8FA3B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FA3BF"/>
              </a:solidFill>
              <a:ln w="9525" cap="flat">
                <a:solidFill>
                  <a:srgbClr val="8FA3B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Sheet1!$A$2:$A$49</c:f>
              <c:multiLvlStrCache>
                <c:ptCount val="48"/>
                <c:lvl>
                  <c:pt idx="0">
                    <c:v>-24</c:v>
                  </c:pt>
                  <c:pt idx="1">
                    <c:v>-23</c:v>
                  </c:pt>
                  <c:pt idx="2">
                    <c:v>-22</c:v>
                  </c:pt>
                  <c:pt idx="3">
                    <c:v>-21</c:v>
                  </c:pt>
                  <c:pt idx="4">
                    <c:v>-20</c:v>
                  </c:pt>
                  <c:pt idx="5">
                    <c:v>-19</c:v>
                  </c:pt>
                  <c:pt idx="6">
                    <c:v>-18</c:v>
                  </c:pt>
                  <c:pt idx="7">
                    <c:v>-17</c:v>
                  </c:pt>
                  <c:pt idx="8">
                    <c:v>-16</c:v>
                  </c:pt>
                  <c:pt idx="9">
                    <c:v>-15</c:v>
                  </c:pt>
                  <c:pt idx="10">
                    <c:v>-14</c:v>
                  </c:pt>
                  <c:pt idx="11">
                    <c:v>-13</c:v>
                  </c:pt>
                  <c:pt idx="12">
                    <c:v>-12</c:v>
                  </c:pt>
                  <c:pt idx="13">
                    <c:v>-11</c:v>
                  </c:pt>
                  <c:pt idx="14">
                    <c:v>-10</c:v>
                  </c:pt>
                  <c:pt idx="15">
                    <c:v>-9</c:v>
                  </c:pt>
                  <c:pt idx="16">
                    <c:v>-8</c:v>
                  </c:pt>
                  <c:pt idx="17">
                    <c:v>-7</c:v>
                  </c:pt>
                  <c:pt idx="18">
                    <c:v>-6</c:v>
                  </c:pt>
                  <c:pt idx="19">
                    <c:v>-5</c:v>
                  </c:pt>
                  <c:pt idx="20">
                    <c:v>-4</c:v>
                  </c:pt>
                  <c:pt idx="21">
                    <c:v>-3</c:v>
                  </c:pt>
                  <c:pt idx="22">
                    <c:v>-2</c:v>
                  </c:pt>
                  <c:pt idx="23">
                    <c:v>-1</c:v>
                  </c:pt>
                  <c:pt idx="24">
                    <c:v>0</c:v>
                  </c:pt>
                  <c:pt idx="25">
                    <c:v>1</c:v>
                  </c:pt>
                  <c:pt idx="26">
                    <c:v>2</c:v>
                  </c:pt>
                  <c:pt idx="27">
                    <c:v>3</c:v>
                  </c:pt>
                  <c:pt idx="28">
                    <c:v>4</c:v>
                  </c:pt>
                  <c:pt idx="29">
                    <c:v>5</c:v>
                  </c:pt>
                  <c:pt idx="30">
                    <c:v>6</c:v>
                  </c:pt>
                  <c:pt idx="31">
                    <c:v>7</c:v>
                  </c:pt>
                  <c:pt idx="32">
                    <c:v>8</c:v>
                  </c:pt>
                  <c:pt idx="33">
                    <c:v>9</c:v>
                  </c:pt>
                  <c:pt idx="34">
                    <c:v>10</c:v>
                  </c:pt>
                  <c:pt idx="35">
                    <c:v>11</c:v>
                  </c:pt>
                  <c:pt idx="36">
                    <c:v>12</c:v>
                  </c:pt>
                  <c:pt idx="37">
                    <c:v>13</c:v>
                  </c:pt>
                  <c:pt idx="38">
                    <c:v>14</c:v>
                  </c:pt>
                  <c:pt idx="39">
                    <c:v>15</c:v>
                  </c:pt>
                  <c:pt idx="40">
                    <c:v>16</c:v>
                  </c:pt>
                  <c:pt idx="41">
                    <c:v>17</c:v>
                  </c:pt>
                  <c:pt idx="42">
                    <c:v>18</c:v>
                  </c:pt>
                  <c:pt idx="43">
                    <c:v>19</c:v>
                  </c:pt>
                  <c:pt idx="44">
                    <c:v>20</c:v>
                  </c:pt>
                  <c:pt idx="45">
                    <c:v>21</c:v>
                  </c:pt>
                  <c:pt idx="46">
                    <c:v>22</c:v>
                  </c:pt>
                  <c:pt idx="47">
                    <c:v>23</c:v>
                  </c:pt>
                </c:lvl>
              </c:multiLvlStrCache>
            </c:multiLvlStrRef>
          </c:cat>
          <c:val>
            <c:numRef>
              <c:f>Sheet1!$C$2:$C$49</c:f>
              <c:numCache>
                <c:formatCode>General</c:formatCode>
                <c:ptCount val="48"/>
                <c:pt idx="0">
                  <c:v>49.9</c:v>
                </c:pt>
                <c:pt idx="1">
                  <c:v>48.4</c:v>
                </c:pt>
                <c:pt idx="2">
                  <c:v>47.1</c:v>
                </c:pt>
                <c:pt idx="3">
                  <c:v>46.5</c:v>
                </c:pt>
                <c:pt idx="4">
                  <c:v>46</c:v>
                </c:pt>
                <c:pt idx="5">
                  <c:v>45.9</c:v>
                </c:pt>
                <c:pt idx="6">
                  <c:v>45.8</c:v>
                </c:pt>
                <c:pt idx="7">
                  <c:v>46</c:v>
                </c:pt>
                <c:pt idx="8">
                  <c:v>46.4</c:v>
                </c:pt>
                <c:pt idx="9">
                  <c:v>46.8</c:v>
                </c:pt>
                <c:pt idx="10">
                  <c:v>47.6</c:v>
                </c:pt>
                <c:pt idx="11">
                  <c:v>49.3</c:v>
                </c:pt>
                <c:pt idx="12">
                  <c:v>51</c:v>
                </c:pt>
                <c:pt idx="13">
                  <c:v>52.4</c:v>
                </c:pt>
                <c:pt idx="14">
                  <c:v>54.1</c:v>
                </c:pt>
                <c:pt idx="15">
                  <c:v>55.6</c:v>
                </c:pt>
                <c:pt idx="16">
                  <c:v>56.6</c:v>
                </c:pt>
                <c:pt idx="17">
                  <c:v>57.4</c:v>
                </c:pt>
                <c:pt idx="18">
                  <c:v>56.6</c:v>
                </c:pt>
                <c:pt idx="19">
                  <c:v>56</c:v>
                </c:pt>
                <c:pt idx="20">
                  <c:v>55.7</c:v>
                </c:pt>
                <c:pt idx="21">
                  <c:v>54</c:v>
                </c:pt>
                <c:pt idx="22">
                  <c:v>51.6</c:v>
                </c:pt>
                <c:pt idx="23">
                  <c:v>50.2</c:v>
                </c:pt>
                <c:pt idx="24">
                  <c:v>50.3</c:v>
                </c:pt>
                <c:pt idx="25">
                  <c:v>48.7</c:v>
                </c:pt>
                <c:pt idx="26">
                  <c:v>47.1</c:v>
                </c:pt>
                <c:pt idx="27">
                  <c:v>46.6</c:v>
                </c:pt>
                <c:pt idx="28">
                  <c:v>46</c:v>
                </c:pt>
                <c:pt idx="29">
                  <c:v>45.8</c:v>
                </c:pt>
                <c:pt idx="30">
                  <c:v>45.8</c:v>
                </c:pt>
                <c:pt idx="31">
                  <c:v>45.9</c:v>
                </c:pt>
                <c:pt idx="32">
                  <c:v>46.2</c:v>
                </c:pt>
                <c:pt idx="33">
                  <c:v>46.7</c:v>
                </c:pt>
                <c:pt idx="34">
                  <c:v>48</c:v>
                </c:pt>
                <c:pt idx="35">
                  <c:v>49.2</c:v>
                </c:pt>
                <c:pt idx="36">
                  <c:v>51</c:v>
                </c:pt>
                <c:pt idx="37">
                  <c:v>52.9</c:v>
                </c:pt>
                <c:pt idx="38">
                  <c:v>54.4</c:v>
                </c:pt>
                <c:pt idx="39">
                  <c:v>56</c:v>
                </c:pt>
                <c:pt idx="40">
                  <c:v>56.6</c:v>
                </c:pt>
                <c:pt idx="41">
                  <c:v>57.2</c:v>
                </c:pt>
                <c:pt idx="42">
                  <c:v>57.1</c:v>
                </c:pt>
                <c:pt idx="43">
                  <c:v>56.4</c:v>
                </c:pt>
                <c:pt idx="44">
                  <c:v>55.3</c:v>
                </c:pt>
                <c:pt idx="45">
                  <c:v>53.4</c:v>
                </c:pt>
                <c:pt idx="46">
                  <c:v>51.9</c:v>
                </c:pt>
                <c:pt idx="47">
                  <c:v>49.8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4A5B73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4A5B73"/>
                    </a:solidFill>
                    <a:latin typeface="Arial"/>
                  </a:rPr>
                  <a:t>Hours relative to window start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B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6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E1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4A5B73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4A5B73"/>
                    </a:solidFill>
                    <a:latin typeface="Arial"/>
                  </a:rPr>
                  <a:t>bpm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A5B7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6243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6243B"/>
                </a:solidFill>
                <a:latin typeface="+mn-lt"/>
              </a:rPr>
              <a:t>Single-feature separability (AUC; 0.5 = chance)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4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HRV 6 h mean</c:v>
                  </c:pt>
                  <c:pt idx="1">
                    <c:v>HRV (instant)</c:v>
                  </c:pt>
                  <c:pt idx="2">
                    <c:v>Heart rate 6 h mean</c:v>
                  </c:pt>
                  <c:pt idx="3">
                    <c:v>Sleep fragmentation 6 h</c:v>
                  </c:pt>
                  <c:pt idx="4">
                    <c:v>SpO₂ 6 h min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0.716</c:v>
                </c:pt>
                <c:pt idx="1">
                  <c:v>0.736</c:v>
                </c:pt>
                <c:pt idx="2">
                  <c:v>0.785</c:v>
                </c:pt>
                <c:pt idx="3">
                  <c:v>0.881</c:v>
                </c:pt>
                <c:pt idx="4">
                  <c:v>0.999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6243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B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5"/>
          <c:min val="0.5"/>
        </c:scaling>
        <c:delete val="0"/>
        <c:axPos val="b"/>
        <c:majorGridlines>
          <c:spPr>
            <a:ln w="6350" cap="flat">
              <a:solidFill>
                <a:srgbClr val="D9E1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idea: a digital twin that merges static EHR risk with continuous wearable signals to forecast ischemic events 24 hours ahead.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pillars: fuse multi-modal data, forecast the pre-event window, visualise it for clinicians.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Everything is scripted and Dockerised so judges can reproduce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Event windows are injected into the final 24 hours of 100 patients; EHR provides prior risk, wearables provide dynamics.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Means across the 100 event patients vs 400 controls, hours 672-719 of each record. HRV decays, heart rate climbs, sleep fragments.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Metrics from models/model_metrics.json. Separability chart: univariate AUC on a 100-patient sample of the merged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Stylised schematic of the Streamlit app; the 84% banner is the README example, not a live prediction.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upfront: synthetic data makes the task easy. The roadmap is how we earn clinical credibility.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Cardiology Digital Twin  ·  Happiest Health Hackathon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chart" Target="../charts/chart3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polished_modern_presentation_title_slide_po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reactive monitoring to a living twin</a:t>
            </a:r>
            <a:endParaRPr lang="en-US" sz="3000" dirty="0"/>
          </a:p>
        </p:txBody>
      </p:sp>
      <p:sp>
        <p:nvSpPr>
          <p:cNvPr id="3" name="Pillar card 1"/>
          <p:cNvSpPr/>
          <p:nvPr/>
        </p:nvSpPr>
        <p:spPr>
          <a:xfrm>
            <a:off x="457200" y="1234440"/>
            <a:ext cx="2560320" cy="324612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4" name="Icon disc 1"/>
          <p:cNvSpPr/>
          <p:nvPr/>
        </p:nvSpPr>
        <p:spPr>
          <a:xfrm>
            <a:off x="685800" y="146304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mage 0" descr="Fus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6184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74320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EHR risk (demographics, comorbidities, LVEF, ECG) meets continuous wearable streams: HRV, heart rate, sleep, SpO₂.</a:t>
            </a:r>
            <a:endParaRPr lang="en-US" sz="1400" dirty="0"/>
          </a:p>
        </p:txBody>
      </p:sp>
      <p:sp>
        <p:nvSpPr>
          <p:cNvPr id="8" name="Pillar card 2"/>
          <p:cNvSpPr/>
          <p:nvPr/>
        </p:nvSpPr>
        <p:spPr>
          <a:xfrm>
            <a:off x="3291840" y="1234440"/>
            <a:ext cx="2560320" cy="324612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9" name="Icon disc 2"/>
          <p:cNvSpPr/>
          <p:nvPr/>
        </p:nvSpPr>
        <p:spPr>
          <a:xfrm>
            <a:off x="3520440" y="14630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Forecas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161848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20440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274320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gradient-boosted classifier reads 6-hour rolling windows and flags the 24-hour pre-event window.</a:t>
            </a:r>
            <a:endParaRPr lang="en-US" sz="1400" dirty="0"/>
          </a:p>
        </p:txBody>
      </p:sp>
      <p:sp>
        <p:nvSpPr>
          <p:cNvPr id="13" name="Pillar card 3"/>
          <p:cNvSpPr/>
          <p:nvPr/>
        </p:nvSpPr>
        <p:spPr>
          <a:xfrm>
            <a:off x="6126480" y="1234440"/>
            <a:ext cx="2560320" cy="324612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14" name="Icon disc 3"/>
          <p:cNvSpPr/>
          <p:nvPr/>
        </p:nvSpPr>
        <p:spPr>
          <a:xfrm>
            <a:off x="6355080" y="146304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Visualis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161848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55080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Visualise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6355080" y="274320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clinical cockpit pairs a risk banner and EHR panel with a 3D heart that pulses amber/red as risk rises.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end-to-end pipeline, containerised</a:t>
            </a:r>
            <a:endParaRPr lang="en-US" sz="3000" dirty="0"/>
          </a:p>
        </p:txBody>
      </p:sp>
      <p:sp>
        <p:nvSpPr>
          <p:cNvPr id="3" name="Stage 1"/>
          <p:cNvSpPr/>
          <p:nvPr/>
        </p:nvSpPr>
        <p:spPr>
          <a:xfrm>
            <a:off x="457200" y="1417320"/>
            <a:ext cx="1463040" cy="173736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55448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0574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EHR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6060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patients · 13 clinical fields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56816" y="2148840"/>
            <a:ext cx="173736" cy="22860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Stage 2"/>
          <p:cNvSpPr/>
          <p:nvPr/>
        </p:nvSpPr>
        <p:spPr>
          <a:xfrm>
            <a:off x="2157984" y="1417320"/>
            <a:ext cx="1463040" cy="173736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95144" y="155448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95144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295144" y="20574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streams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295144" y="26060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 × 24 h per patient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0" y="2148840"/>
            <a:ext cx="173736" cy="22860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Stage 3"/>
          <p:cNvSpPr/>
          <p:nvPr/>
        </p:nvSpPr>
        <p:spPr>
          <a:xfrm>
            <a:off x="3858768" y="1417320"/>
            <a:ext cx="1463040" cy="173736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95928" y="15544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995928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995928" y="20574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+ features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995928" y="26060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Patient-token join · 6 h rolling windows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58384" y="2148840"/>
            <a:ext cx="173736" cy="22860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Stage 4"/>
          <p:cNvSpPr/>
          <p:nvPr/>
        </p:nvSpPr>
        <p:spPr>
          <a:xfrm>
            <a:off x="5559552" y="1417320"/>
            <a:ext cx="1463040" cy="173736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96712" y="15544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96712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696712" y="20574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model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696712" y="26060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· 33 features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059168" y="2148840"/>
            <a:ext cx="173736" cy="22860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Stage 5"/>
          <p:cNvSpPr/>
          <p:nvPr/>
        </p:nvSpPr>
        <p:spPr>
          <a:xfrm>
            <a:off x="7260336" y="1417320"/>
            <a:ext cx="1463040" cy="173736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97496" y="1554480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97496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397496" y="20574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cockpit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397496" y="26060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· Plotly · Three.js</a:t>
            </a:r>
            <a:endParaRPr lang="en-US" sz="1100" dirty="0"/>
          </a:p>
        </p:txBody>
      </p:sp>
      <p:sp>
        <p:nvSpPr>
          <p:cNvPr id="32" name="Reproducibility strip"/>
          <p:cNvSpPr/>
          <p:nvPr/>
        </p:nvSpPr>
        <p:spPr>
          <a:xfrm>
            <a:off x="457200" y="3474720"/>
            <a:ext cx="822960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" y="3611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in three commands  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src/data/*.py  →  python src/model/train.py  →  streamlit run dashboard/app.py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4069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serves the cockpit on port 8501 with live-mounted data, models and code.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360,000 hourly readings, two data streams</a:t>
            </a:r>
            <a:endParaRPr lang="en-US" sz="3000" dirty="0"/>
          </a:p>
        </p:txBody>
      </p:sp>
      <p:sp>
        <p:nvSpPr>
          <p:cNvPr id="3" name="Stat card 1"/>
          <p:cNvSpPr/>
          <p:nvPr/>
        </p:nvSpPr>
        <p:spPr>
          <a:xfrm>
            <a:off x="457200" y="1280160"/>
            <a:ext cx="182880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574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patients, one pseudo-token each</a:t>
            </a:r>
            <a:endParaRPr lang="en-US" sz="1200" dirty="0"/>
          </a:p>
        </p:txBody>
      </p:sp>
      <p:sp>
        <p:nvSpPr>
          <p:cNvPr id="6" name="Stat card 2"/>
          <p:cNvSpPr/>
          <p:nvPr/>
        </p:nvSpPr>
        <p:spPr>
          <a:xfrm>
            <a:off x="2468880" y="1280160"/>
            <a:ext cx="182880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51760" y="14173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720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20574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readings per patient (30 days)</a:t>
            </a:r>
            <a:endParaRPr lang="en-US" sz="1200" dirty="0"/>
          </a:p>
        </p:txBody>
      </p:sp>
      <p:sp>
        <p:nvSpPr>
          <p:cNvPr id="9" name="Stat card 3"/>
          <p:cNvSpPr/>
          <p:nvPr/>
        </p:nvSpPr>
        <p:spPr>
          <a:xfrm>
            <a:off x="457200" y="2880360"/>
            <a:ext cx="182880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0175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6576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model features</a:t>
            </a:r>
            <a:endParaRPr lang="en-US" sz="1200" dirty="0"/>
          </a:p>
        </p:txBody>
      </p:sp>
      <p:sp>
        <p:nvSpPr>
          <p:cNvPr id="12" name="Stat card 4"/>
          <p:cNvSpPr/>
          <p:nvPr/>
        </p:nvSpPr>
        <p:spPr>
          <a:xfrm>
            <a:off x="2468880" y="2880360"/>
            <a:ext cx="182880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51760" y="30175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2651760" y="36576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with an event window (20%)</a:t>
            </a:r>
            <a:endParaRPr lang="en-US" sz="12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4572000" y="1188720"/>
          <a:ext cx="411480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Physiology diverges inside the 24-hour window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43000"/>
          <a:ext cx="40233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663440" y="1143000"/>
          <a:ext cx="40233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Window summary"/>
          <p:cNvSpPr/>
          <p:nvPr/>
        </p:nvSpPr>
        <p:spPr>
          <a:xfrm>
            <a:off x="457200" y="4023360"/>
            <a:ext cx="822960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24 h, event vs. no event:  HRV 31.8 vs 45.0 ms (−29%)   ·   HR 61.7 vs 50.8 bpm (+21%)   ·   Sleep fragmentation 0.81 vs 0.52   ·   Skin temp +0.6 °C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boosting, validated by patient</a:t>
            </a:r>
            <a:endParaRPr lang="en-US" sz="3000" dirty="0"/>
          </a:p>
        </p:txBody>
      </p:sp>
      <p:sp>
        <p:nvSpPr>
          <p:cNvPr id="3" name="Metric 1"/>
          <p:cNvSpPr/>
          <p:nvPr/>
        </p:nvSpPr>
        <p:spPr>
          <a:xfrm>
            <a:off x="457200" y="1234440"/>
            <a:ext cx="150876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716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965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200" dirty="0"/>
          </a:p>
        </p:txBody>
      </p:sp>
      <p:sp>
        <p:nvSpPr>
          <p:cNvPr id="6" name="Metric 2"/>
          <p:cNvSpPr/>
          <p:nvPr/>
        </p:nvSpPr>
        <p:spPr>
          <a:xfrm>
            <a:off x="2148840" y="1234440"/>
            <a:ext cx="150876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86000" y="13716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0.996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1965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9" name="Metric 3"/>
          <p:cNvSpPr/>
          <p:nvPr/>
        </p:nvSpPr>
        <p:spPr>
          <a:xfrm>
            <a:off x="457200" y="2560320"/>
            <a:ext cx="150876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6974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0.998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291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2" name="Metric 4"/>
          <p:cNvSpPr/>
          <p:nvPr/>
        </p:nvSpPr>
        <p:spPr>
          <a:xfrm>
            <a:off x="2148840" y="2560320"/>
            <a:ext cx="150876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86000" y="26974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0.997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2286000" y="3291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9319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test: 72,000 rows from 100 unseen patients. Patient-level 80/20 split, class-weighted training, target-derived columns excluded.</a:t>
            </a:r>
            <a:endParaRPr lang="en-US" sz="12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3931920" y="1143000"/>
          <a:ext cx="475488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clinical cockpit built for fast reading</a:t>
            </a:r>
            <a:endParaRPr lang="en-US" sz="3000" dirty="0"/>
          </a:p>
        </p:txBody>
      </p:sp>
      <p:sp>
        <p:nvSpPr>
          <p:cNvPr id="3" name="Cockpit frame"/>
          <p:cNvSpPr/>
          <p:nvPr/>
        </p:nvSpPr>
        <p:spPr>
          <a:xfrm>
            <a:off x="457200" y="1188720"/>
            <a:ext cx="5120640" cy="3383280"/>
          </a:xfrm>
          <a:prstGeom prst="roundRect">
            <a:avLst>
              <a:gd name="adj" fmla="val 2703"/>
            </a:avLst>
          </a:prstGeom>
          <a:solidFill>
            <a:schemeClr val="bg1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43B">
                <a:alpha val="12000"/>
              </a:srgbClr>
            </a:outerShdw>
          </a:effectLst>
        </p:spPr>
      </p:sp>
      <p:sp>
        <p:nvSpPr>
          <p:cNvPr id="4" name="Risk banner"/>
          <p:cNvSpPr/>
          <p:nvPr/>
        </p:nvSpPr>
        <p:spPr>
          <a:xfrm>
            <a:off x="594360" y="1325880"/>
            <a:ext cx="4846320" cy="685800"/>
          </a:xfrm>
          <a:prstGeom prst="roundRect">
            <a:avLst>
              <a:gd name="adj" fmla="val 10667"/>
            </a:avLst>
          </a:prstGeom>
          <a:solidFill>
            <a:srgbClr val="FBE6E9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3716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Ischemic Anomaly Risk: 84%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Window: 18–24 h  ·  CRITICAL  (illustrative)</a:t>
            </a:r>
            <a:endParaRPr lang="en-US" sz="1500" dirty="0"/>
          </a:p>
        </p:txBody>
      </p:sp>
      <p:sp>
        <p:nvSpPr>
          <p:cNvPr id="6" name="EHR panel"/>
          <p:cNvSpPr/>
          <p:nvPr/>
        </p:nvSpPr>
        <p:spPr>
          <a:xfrm>
            <a:off x="594360" y="2148840"/>
            <a:ext cx="2240280" cy="228600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240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command panel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651760"/>
            <a:ext cx="1965960" cy="301752"/>
          </a:xfrm>
          <a:prstGeom prst="rect">
            <a:avLst/>
          </a:prstGeom>
          <a:solidFill>
            <a:schemeClr val="bg1"/>
          </a:solidFill>
          <a:ln w="6350">
            <a:solidFill>
              <a:srgbClr val="D9E1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265176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· BMI · sex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3063240"/>
            <a:ext cx="1965960" cy="301752"/>
          </a:xfrm>
          <a:prstGeom prst="rect">
            <a:avLst/>
          </a:prstGeom>
          <a:solidFill>
            <a:schemeClr val="bg1"/>
          </a:solidFill>
          <a:ln w="6350">
            <a:solidFill>
              <a:srgbClr val="D9E1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306324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Comorbidities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474720"/>
            <a:ext cx="1965960" cy="301752"/>
          </a:xfrm>
          <a:prstGeom prst="rect">
            <a:avLst/>
          </a:prstGeom>
          <a:solidFill>
            <a:schemeClr val="bg1"/>
          </a:solidFill>
          <a:ln w="6350">
            <a:solidFill>
              <a:srgbClr val="D9E1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" y="347472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LVEF % · ECG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886200"/>
            <a:ext cx="1965960" cy="301752"/>
          </a:xfrm>
          <a:prstGeom prst="rect">
            <a:avLst/>
          </a:prstGeom>
          <a:solidFill>
            <a:schemeClr val="bg1"/>
          </a:solidFill>
          <a:ln w="6350">
            <a:solidFill>
              <a:srgbClr val="D9E1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4672" y="388620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HRV · HR · SpO₂ telemetry</a:t>
            </a:r>
            <a:endParaRPr lang="en-US" sz="1000" dirty="0"/>
          </a:p>
        </p:txBody>
      </p:sp>
      <p:pic>
        <p:nvPicPr>
          <p:cNvPr id="16" name="Image 0" descr="3D hemodynamic heart view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71800" y="2148840"/>
            <a:ext cx="2468880" cy="228600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5852160" y="123444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85216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355080" y="11887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 banner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355080" y="15087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Forward-looking risk %, time window and the dynamic triggers behind it.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852160" y="2404872"/>
            <a:ext cx="365760" cy="3657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852160" y="2404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6355080" y="235915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command panel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355080" y="267919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summary beside real-time telemetry widgets.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852160" y="3575304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852160" y="3575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6355080" y="352958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3D hemodynamic heart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6355080" y="3849624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blue/red gradients; vascular cross-sections pulse amber/red on predicted risk.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from proof-of-concept to clinical evidence</a:t>
            </a:r>
            <a:endParaRPr lang="en-US" sz="3000" dirty="0"/>
          </a:p>
        </p:txBody>
      </p:sp>
      <p:sp>
        <p:nvSpPr>
          <p:cNvPr id="3" name="Caveat card"/>
          <p:cNvSpPr/>
          <p:nvPr/>
        </p:nvSpPr>
        <p:spPr>
          <a:xfrm>
            <a:off x="457200" y="118872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DF3E1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" name="Image 0" descr="Cau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544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1298448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scores with care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Near-perfect metrics reflect cleanly separable synthetic anomalies (SpO₂ 6 h minimum alone reaches ~0.999 AUC). They prove the pipeline works, not clinical performance.</a:t>
            </a:r>
            <a:endParaRPr lang="en-US" sz="1600" dirty="0"/>
          </a:p>
        </p:txBody>
      </p:sp>
      <p:sp>
        <p:nvSpPr>
          <p:cNvPr id="6" name="Roadmap 1"/>
          <p:cNvSpPr/>
          <p:nvPr/>
        </p:nvSpPr>
        <p:spPr>
          <a:xfrm>
            <a:off x="457200" y="2697480"/>
            <a:ext cx="1920240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834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337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7033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and test on MIMIC-IV and PhysioNet records</a:t>
            </a:r>
            <a:endParaRPr lang="en-US" sz="1200" dirty="0"/>
          </a:p>
        </p:txBody>
      </p:sp>
      <p:sp>
        <p:nvSpPr>
          <p:cNvPr id="10" name="Roadmap 2"/>
          <p:cNvSpPr/>
          <p:nvPr/>
        </p:nvSpPr>
        <p:spPr>
          <a:xfrm>
            <a:off x="2560320" y="2697480"/>
            <a:ext cx="1920240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743200" y="2834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2743200" y="3337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2743200" y="37033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hold-out, calibration, time-to-event targets</a:t>
            </a:r>
            <a:endParaRPr lang="en-US" sz="1200" dirty="0"/>
          </a:p>
        </p:txBody>
      </p:sp>
      <p:sp>
        <p:nvSpPr>
          <p:cNvPr id="14" name="Roadmap 3"/>
          <p:cNvSpPr/>
          <p:nvPr/>
        </p:nvSpPr>
        <p:spPr>
          <a:xfrm>
            <a:off x="4663440" y="2697480"/>
            <a:ext cx="1920240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846320" y="2834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4846320" y="3337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846320" y="37033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drivers surfaced in the cockpit banner</a:t>
            </a:r>
            <a:endParaRPr lang="en-US" sz="1200" dirty="0"/>
          </a:p>
        </p:txBody>
      </p:sp>
      <p:sp>
        <p:nvSpPr>
          <p:cNvPr id="18" name="Roadmap 4"/>
          <p:cNvSpPr/>
          <p:nvPr/>
        </p:nvSpPr>
        <p:spPr>
          <a:xfrm>
            <a:off x="6766560" y="2697480"/>
            <a:ext cx="1920240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949440" y="2834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6949440" y="3337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949440" y="37033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usability study, then regulatory pathway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twin that sees risk before it strikes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Multi-modal data in, a 24-hour forecast and an explorable 3D heart out, privacy-safe by design.</a:t>
            </a:r>
            <a:endParaRPr lang="en-US" sz="2000" dirty="0"/>
          </a:p>
        </p:txBody>
      </p:sp>
      <p:pic>
        <p:nvPicPr>
          <p:cNvPr id="4" name="Image 0" descr="Digital twin hear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2926080"/>
            <a:ext cx="1737360" cy="1645920"/>
          </a:xfrm>
          <a:prstGeom prst="rect">
            <a:avLst/>
          </a:prstGeom>
        </p:spPr>
      </p:pic>
      <p:sp>
        <p:nvSpPr>
          <p:cNvPr id="5" name="Stack row 1"/>
          <p:cNvSpPr/>
          <p:nvPr/>
        </p:nvSpPr>
        <p:spPr>
          <a:xfrm>
            <a:off x="4206240" y="1234440"/>
            <a:ext cx="4480560" cy="530352"/>
          </a:xfrm>
          <a:prstGeom prst="roundRect">
            <a:avLst>
              <a:gd name="adj" fmla="val 17241"/>
            </a:avLst>
          </a:prstGeom>
          <a:solidFill>
            <a:schemeClr val="bg2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389120" y="1234440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0" y="123444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Synthea-inspired EHR + PhysioNet-style wearables</a:t>
            </a:r>
            <a:endParaRPr lang="en-US" sz="1200" dirty="0"/>
          </a:p>
        </p:txBody>
      </p:sp>
      <p:sp>
        <p:nvSpPr>
          <p:cNvPr id="8" name="Stack row 2"/>
          <p:cNvSpPr/>
          <p:nvPr/>
        </p:nvSpPr>
        <p:spPr>
          <a:xfrm>
            <a:off x="4206240" y="1874520"/>
            <a:ext cx="4480560" cy="530352"/>
          </a:xfrm>
          <a:prstGeom prst="roundRect">
            <a:avLst>
              <a:gd name="adj" fmla="val 17241"/>
            </a:avLst>
          </a:prstGeom>
          <a:solidFill>
            <a:schemeClr val="bg2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389120" y="1874520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0" y="187452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(XGBoost-ready)</a:t>
            </a:r>
            <a:endParaRPr lang="en-US" sz="1200" dirty="0"/>
          </a:p>
        </p:txBody>
      </p:sp>
      <p:sp>
        <p:nvSpPr>
          <p:cNvPr id="11" name="Stack row 3"/>
          <p:cNvSpPr/>
          <p:nvPr/>
        </p:nvSpPr>
        <p:spPr>
          <a:xfrm>
            <a:off x="4206240" y="2514600"/>
            <a:ext cx="4480560" cy="530352"/>
          </a:xfrm>
          <a:prstGeom prst="roundRect">
            <a:avLst>
              <a:gd name="adj" fmla="val 17241"/>
            </a:avLst>
          </a:prstGeom>
          <a:solidFill>
            <a:schemeClr val="bg2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389120" y="2514600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0" y="251460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· Plotly · Three.js (WebGL)</a:t>
            </a:r>
            <a:endParaRPr lang="en-US" sz="1200" dirty="0"/>
          </a:p>
        </p:txBody>
      </p:sp>
      <p:sp>
        <p:nvSpPr>
          <p:cNvPr id="14" name="Stack row 4"/>
          <p:cNvSpPr/>
          <p:nvPr/>
        </p:nvSpPr>
        <p:spPr>
          <a:xfrm>
            <a:off x="4206240" y="3154680"/>
            <a:ext cx="4480560" cy="530352"/>
          </a:xfrm>
          <a:prstGeom prst="roundRect">
            <a:avLst>
              <a:gd name="adj" fmla="val 17241"/>
            </a:avLst>
          </a:prstGeom>
          <a:solidFill>
            <a:schemeClr val="bg2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389120" y="3154680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0" y="315468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+ HIPAA; fully synthetic data</a:t>
            </a:r>
            <a:endParaRPr lang="en-US" sz="1200" dirty="0"/>
          </a:p>
        </p:txBody>
      </p:sp>
      <p:sp>
        <p:nvSpPr>
          <p:cNvPr id="17" name="Stack row 5"/>
          <p:cNvSpPr/>
          <p:nvPr/>
        </p:nvSpPr>
        <p:spPr>
          <a:xfrm>
            <a:off x="4206240" y="3794760"/>
            <a:ext cx="4480560" cy="530352"/>
          </a:xfrm>
          <a:prstGeom prst="roundRect">
            <a:avLst>
              <a:gd name="adj" fmla="val 17241"/>
            </a:avLst>
          </a:prstGeom>
          <a:solidFill>
            <a:schemeClr val="bg2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389120" y="3794760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0" y="379476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on port 8501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206240" y="448056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demonstration only. Not for clinical use.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rdio Light">
  <a:themeElements>
    <a:clrScheme name="Cardio Light">
      <a:dk1>
        <a:srgbClr val="16243B"/>
      </a:dk1>
      <a:lt1>
        <a:srgbClr val="FFFFFF"/>
      </a:lt1>
      <a:dk2>
        <a:srgbClr val="4A5B73"/>
      </a:dk2>
      <a:lt2>
        <a:srgbClr val="F2F5F9"/>
      </a:lt2>
      <a:accent1>
        <a:srgbClr val="C8102E"/>
      </a:accent1>
      <a:accent2>
        <a:srgbClr val="0E7C86"/>
      </a:accent2>
      <a:accent3>
        <a:srgbClr val="E8A33D"/>
      </a:accent3>
      <a:accent4>
        <a:srgbClr val="2F5D9E"/>
      </a:accent4>
      <a:accent5>
        <a:srgbClr val="D9E1EC"/>
      </a:accent5>
      <a:accent6>
        <a:srgbClr val="2E9E6B"/>
      </a:accent6>
      <a:hlink>
        <a:srgbClr val="2F5D9E"/>
      </a:hlink>
      <a:folHlink>
        <a:srgbClr val="4A5B73"/>
      </a:folHlink>
    </a:clrScheme>
    <a:fontScheme name="Cardio Ligh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Precision Cardiology Digital Twin</dc:title>
  <dc:subject>PptxGenJS Presentation</dc:subject>
  <dc:creator>PptxGenJS</dc:creator>
  <cp:lastModifiedBy>PptxGenJS</cp:lastModifiedBy>
  <cp:revision>1</cp:revision>
  <dcterms:created xsi:type="dcterms:W3CDTF">2026-10-24T07:50:06Z</dcterms:created>
  <dcterms:modified xsi:type="dcterms:W3CDTF">2026-10-24T07:50:06Z</dcterms:modified>
</cp:coreProperties>
</file>